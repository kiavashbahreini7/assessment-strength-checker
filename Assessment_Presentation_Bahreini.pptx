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28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7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CC9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2560320" cy="31089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FIU · KFSCIS · 2025–2026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 Checker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What We Assess in the Age of Generative 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4114800" cy="36576"/>
          </a:xfrm>
          <a:prstGeom prst="rect">
            <a:avLst/>
          </a:prstGeom>
          <a:solidFill>
            <a:srgbClr val="4A7CC9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Kiavash Bahreini, Ph.D.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Teaching Professor, Computer Science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Foundation School of Computing and Information Sciences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International University  ·  kbahrein@fiu.edu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4480560"/>
            <a:ext cx="2011680" cy="34747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Powered by Google Gemini 2.5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43000"/>
          </a:xfrm>
          <a:prstGeom prst="rect">
            <a:avLst/>
          </a:prstGeom>
          <a:solidFill>
            <a:srgbClr val="EBF0FA"/>
          </a:solidFill>
          <a:ln w="19050">
            <a:solidFill>
              <a:srgbClr val="4A7C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your current assignments could a student complete using Google Gemini in under 60 seconds — without reading a single page of your course material?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743200" cy="73152"/>
          </a:xfrm>
          <a:prstGeom prst="rect">
            <a:avLst/>
          </a:prstGeom>
          <a:solidFill>
            <a:srgbClr val="C0282E"/>
          </a:solidFill>
          <a:ln w="12700">
            <a:solidFill>
              <a:srgbClr val="C02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admit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on assignments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214884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2148840"/>
            <a:ext cx="2743200" cy="73152"/>
          </a:xfrm>
          <a:prstGeom prst="rect">
            <a:avLst/>
          </a:prstGeom>
          <a:solidFill>
            <a:srgbClr val="B07000"/>
          </a:solidFill>
          <a:ln w="12700">
            <a:solidFill>
              <a:srgbClr val="B07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07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447288" y="3337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current assignments 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 by AI in &lt;60 sec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36792" y="214884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36792" y="2148840"/>
            <a:ext cx="2743200" cy="7315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A52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428232" y="3337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for Gemini to 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essay question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Kiavash Bahreini, Ph.D.  ·  FIU KFSCIS  ·  kbahrein@fiu.edu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</a:rPr>
              <a:t>WHAT THE TOOL DOES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23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any assignment prompt.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analyzes it using Google Gemini and returns an honest evaluation of how easily a student could complete that assignment using AI — without actually learning anything.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discipline.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background required.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60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795528"/>
            <a:ext cx="4434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795528"/>
            <a:ext cx="347472" cy="67665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795528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64608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AI-Resistance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097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scale. 1 = Gemini solves it instantly. 10 = requires genuine human thinking.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545336"/>
            <a:ext cx="4434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34840" y="1545336"/>
            <a:ext cx="347472" cy="67665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545336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64608" y="1581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847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Resistance, Moderate Vulnerability, or High Vulnerability.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2295144"/>
            <a:ext cx="4434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2295144"/>
            <a:ext cx="347472" cy="67665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2295144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64608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 Scores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25968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· Process · Context · Higher-Order Thinking.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044952"/>
            <a:ext cx="4434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34840" y="3044952"/>
            <a:ext cx="347472" cy="67665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34840" y="3044952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64608" y="3081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Suggestions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346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actionable redesign steps you can apply this week.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794760"/>
            <a:ext cx="4434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34840" y="3794760"/>
            <a:ext cx="347472" cy="67665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379476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64608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Prompt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40965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original prompt rewritten to be meaningfully more AI-resistant.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Kiavash Bahreini, Ph.D.  ·  FIU KFSCIS  ·  kbahrein@fiu.edu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</a:rPr>
              <a:t>THREE LEVELS OF AI RESISTANCE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4041648"/>
          </a:xfrm>
          <a:prstGeom prst="rect">
            <a:avLst/>
          </a:prstGeom>
          <a:solidFill>
            <a:srgbClr val="FEF0F0"/>
          </a:solidFill>
          <a:ln w="12700">
            <a:solidFill>
              <a:srgbClr val="F0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34640" cy="566928"/>
          </a:xfrm>
          <a:prstGeom prst="rect">
            <a:avLst/>
          </a:prstGeom>
          <a:solidFill>
            <a:srgbClr val="C0282E"/>
          </a:solidFill>
          <a:ln w="12700">
            <a:solidFill>
              <a:srgbClr val="C02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LEVEL 1  ·  Score 1–3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High Vulnerability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completes it in 60 seconds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105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00253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linked list is and compare it to an array.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243230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Nursing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26243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five rights of medication administration.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30540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324612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Ps of marketing with one example each.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6758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386791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explain Bloom's six taxonomy levels.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3342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334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recall. No context. No judgment. AI has a perfect answer ready.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749808"/>
            <a:ext cx="2834640" cy="4041648"/>
          </a:xfrm>
          <a:prstGeom prst="rect">
            <a:avLst/>
          </a:prstGeom>
          <a:solidFill>
            <a:srgbClr val="FFF4E0"/>
          </a:solidFill>
          <a:ln w="12700">
            <a:solidFill>
              <a:srgbClr val="F0C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749808"/>
            <a:ext cx="2834640" cy="566928"/>
          </a:xfrm>
          <a:prstGeom prst="rect">
            <a:avLst/>
          </a:prstGeom>
          <a:solidFill>
            <a:srgbClr val="B07000"/>
          </a:solidFill>
          <a:ln w="12700">
            <a:solidFill>
              <a:srgbClr val="B07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LEVEL 2  ·  Score 4–6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Moderate Vulnerability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 help significantly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18105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200253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data structures for a to-do list app. Recommend one.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243230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Nursing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26243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care plan for a 68-year-old diabetic patient after a fall.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30540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324612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a real company handled a recent PR crisis.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36758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386791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45-min lesson plan on main idea with differentiation.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43342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91840" y="4334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adds depth, but AI has seen thousands of similar cases.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749808"/>
            <a:ext cx="2834640" cy="4041648"/>
          </a:xfrm>
          <a:prstGeom prst="rect">
            <a:avLst/>
          </a:prstGeom>
          <a:solidFill>
            <a:srgbClr val="E8F5EE"/>
          </a:solidFill>
          <a:ln w="12700">
            <a:solidFill>
              <a:srgbClr val="A8D8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72200" y="749808"/>
            <a:ext cx="283464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LEVEL 3  ·  Score 7–9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High Resistance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must show up as themselves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81928" y="18105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81928" y="200253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scheduling system for a real clinic. Defend in live Q&amp;A.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81928" y="243230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Nursing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81928" y="26243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a disconnect you observed in clinical placement.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81928" y="30540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81928" y="324612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local business in your own community. Discuss in class.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81928" y="36758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81928" y="386791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concept you personally found difficult. Pilot with peers.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3342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63640" y="4334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lived experience + live accountability. AI cannot fake either.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Kiavash Bahreini, Ph.D.  ·  FIU KFSCIS  ·  kbahrein@fiu.edu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</a:rPr>
              <a:t>THREE MOVES THAT RAISE ANY ASSIGNMENT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640080" cy="126187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640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It to What Only the Student Has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clinical placement. Their neighborhood. Their own learning history. Their internship. AI does not have any of these. The moment your prompt requires a student to draw on their specific lived experience, the assignment becomes significantly harder to outsource.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841248"/>
            <a:ext cx="3017520" cy="1078992"/>
          </a:xfrm>
          <a:prstGeom prst="rect">
            <a:avLst/>
          </a:prstGeom>
          <a:solidFill>
            <a:srgbClr val="EBF0FA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859536"/>
            <a:ext cx="2834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"Analyze a marketing crisis."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"Analyze a decision made by a business in your community."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640080" cy="12618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640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Live Accountability Component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verbal defense. A brief in-class discussion. A Q&amp;A after a presentation. A student who genuinely engaged with their work can answer spontaneous follow-up questions. A student who submitted AI output cannot.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194560"/>
            <a:ext cx="3017520" cy="1078992"/>
          </a:xfrm>
          <a:prstGeom prst="rect">
            <a:avLst/>
          </a:prstGeom>
          <a:solidFill>
            <a:srgbClr val="EBF0FA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2212848"/>
            <a:ext cx="2834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just one line — "You will discuss this in a 5-minute conversation" — moved our test prompt from 5/10 to 8/10.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456432"/>
            <a:ext cx="640080" cy="1261872"/>
          </a:xfrm>
          <a:prstGeom prst="rect">
            <a:avLst/>
          </a:prstGeom>
          <a:solidFill>
            <a:srgbClr val="B07000"/>
          </a:solidFill>
          <a:ln w="12700">
            <a:solidFill>
              <a:srgbClr val="B07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456432"/>
            <a:ext cx="640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05840" y="35295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Process Visible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80390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draft and a revision with an explanation of what changed. Ask for a decision log. Request annotated AI transcripts. When students must show their thinking as it developed — not just the final product — the assignment measures learning, not output.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3547872"/>
            <a:ext cx="3017520" cy="1078992"/>
          </a:xfrm>
          <a:prstGeom prst="rect">
            <a:avLst/>
          </a:prstGeom>
          <a:solidFill>
            <a:srgbClr val="EBF0FA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3566160"/>
            <a:ext cx="2834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(1) initial draft, (2) peer feedback notes, (3) revised version with change rationale.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Kiavash Bahreini, Ph.D.  ·  FIU KFSCIS  ·  kbahrein@fiu.edu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CC9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4A7CC9"/>
                </a:solidFill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Your Own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Prompt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6858000" cy="3657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2514600"/>
            <a:ext cx="347472" cy="34747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 any assignment prompt from your course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347472" cy="34747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03580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tool score it live on the AI-resistance scale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347472" cy="34747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four dimension breakdown together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347472" cy="347472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0416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redesigned version on screen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Ctrl + Enter to analyze  ·  Results appear in under 5 seconds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</a:rPr>
              <a:t>SETUP: GET YOUR FREE GEMINI API KEY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EBF0FA"/>
          </a:solidFill>
          <a:ln w="254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5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aistudio.google.com/apikey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" cy="14447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4023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3816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URL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18013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aistudio.google.com/apikey in your browser. Sign in with your Google account (any Gmail address works — it is free).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90088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990088"/>
            <a:ext cx="402336" cy="14447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990088"/>
            <a:ext cx="4023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3816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API Key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" y="337413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blue "Create API key" button. Choose "Create API key in new project". The key is generated instantly.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402336" cy="14447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417320"/>
            <a:ext cx="4023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02936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02936" y="18013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 that starts with "AIza". It is a long string of letters and numbers. Paste it somewhere safe temporarily.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90088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990088"/>
            <a:ext cx="402336" cy="14447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990088"/>
            <a:ext cx="4023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02936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the Tool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02936" y="337413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Assessment Strength Checker HTML file. Paste the key into the blue banner at the top of the page. The key never leaves your browser.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553712"/>
            <a:ext cx="8503920" cy="237744"/>
          </a:xfrm>
          <a:prstGeom prst="rect">
            <a:avLst/>
          </a:prstGeom>
          <a:solidFill>
            <a:srgbClr val="EBF0FA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55371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</a:rPr>
              <a:t>✓ Free tier  ·  ✓ No credit card needed  ·  ✓ Key stays in your browser only  ·  ✓ Works immediately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Kiavash Bahreini, Ph.D.  ·  FIU KFSCIS  ·  kbahrein@fiu.edu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CC9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4A7CC9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for Humans.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Against AI.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664208"/>
            <a:ext cx="8321040" cy="36576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whether students have access to AI. They do. The question is whether your assignments are designed to still require their thinking.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targeted edits — not full rewrites — are all it takes. Anchor to lived experience. Add a live component. Make the process visible.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657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703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gives you an honest answer in 60 seconds and a concrete path forward. Use it on your own assignments today.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solidFill>
            <a:srgbClr val="2A52A0"/>
          </a:solidFill>
          <a:ln w="12700">
            <a:solidFill>
              <a:srgbClr val="2A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Kiavash Bahreini, Ph.D.  ·  KFSCIS, CASE 337  ·  kbahrein@fiu.edu  ·  Florida International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1140</Words>
  <Application>Microsoft Office PowerPoint</Application>
  <PresentationFormat>On-screen Show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Kiavash Bahreini</dc:creator>
  <cp:lastModifiedBy>Kiavash Bahreini</cp:lastModifiedBy>
  <cp:revision>5</cp:revision>
  <dcterms:created xsi:type="dcterms:W3CDTF">2026-03-13T18:10:55Z</dcterms:created>
  <dcterms:modified xsi:type="dcterms:W3CDTF">2026-03-16T05:00:09Z</dcterms:modified>
</cp:coreProperties>
</file>